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cô. Em xin trình bày đồ án thực tập chuyên ngành: Xây dựng website giới thiệu và đặt phòng homestay cho Homestay TVH.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trình bày gồm năm mục. Em sẽ dành nhiều thời gian nhất cho mục hai — vấn đề kỹ thuật then chốt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homestay nhận đặt phòng qua nhiều kênh. Mỗi kênh là một danh sách riêng trong trí nhớ. Ba điểm tô đỏ trên lưu đồ là ba chỗ hỏng: tra cứu bằng trí nhớ, không có bản ghi tập trung, và hai khách nhắn cùng lúc.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không phải lỗi bất cẩn. Đây là hệ quả tất yếu của việc quản lý lịch phòng bằng trí nhớ con người. Và đây chính là bài toán kỹ thuật mà đồ án tập trung giải.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nói chuyện chống trùng, phải thống nhất thế nào là trùng. Hai thanh trên hình chạm nhau tại ngày 10 tháng 3 nhưng không chồng lấn — khách này trả phòng buổi sáng, khách kia nhận phòng buổi chiều.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Tám mục đích cụ thể, mỗi mục đích đi kèm một tiêu chí nghiệm thu đo được, không phải một lời hứa.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chọn PostgreSQL không phải vì nó mạnh hơn MySQL. Slide sau sẽ nói rõ lý 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dịch vụ. Máy chủ web là đường vào duy nhất. Cơ sở dữ liệu và hộp thư không mở cổng ra ngoài — chỉ máy chủ ứng dụng gọi tới được.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quan trọng nhất. Cột trái là mẫu kiểm-tra-rồi-ghi: hai luồng cùng đọc thấy còn phòng, cùng ghi, kết quả bán trùng. Khoảng trống giữa lúc đọc và lúc ghi là khe hở không bịt được bằng logic thông thường.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Ràng buộc loại trừ là thứ MySQL không có. Chỉ số GiST cho phép so sánh chồng lấn — việc mà chỉ số B-tree không làm được. Khi hai giao dịch cùng ghi, PostgreSQL bác một cái, và hệ thống bắt đúng mã lỗi đó rồi thử phòng tiếp theo trong một giao dịch MỚI.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nhóm bảng đặt phòng — nơi đặt ràng buộc quan trọng nhất. Lược đồ do công cụ migration quản lý, và migration là bất biến: đã chạy thì không sửa, chỉ thêm bản mới.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Tám trạng thái. Hai đường đáng chú ý: đơn đã huỷ và đơn đã hết hạn vẫn quay lại được trạng thái chờ đối soát, khi tiền của khách về muộn. Không có nhánh nào để tiền biến mất im lặng.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Khách quét mã QR chuyển khoản. Nhà cung cấp gọi webhook. Hệ thống kiểm năm lớp trước khi cho phép một đồng nào ảnh hưởng tới dữ liệu: khoá xác thực, số tài khoản, chiều tiền, chống xử lý trùng, và số tiền.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bước: chọn ngày, chọn phòng, xác nhận. Giá hiển thị là tổng cả kỳ chứ không phải giá một đêm — đây là điều khách thực sự muốn biết. Ngày đã hết phòng bị chặn ngay trong lịch, không để khách chọn rồi mới báo lỗi.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tổng quan: giá trị booking theo tháng, tỉ lệ lấp đầy, tỉ lệ huỷ, và số khoản tiền đang chờ đối soát. Khu quản trị ưu tiên mật độ thông tin vì chủ homestay dùng nó hằng ngày.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thử tích hợp chạy trên PostgreSQL thật qua Testcontainers, vì ràng buộc loại trừ là tính năng của PostgreSQL — giả lập bằng cơ sở dữ liệu trong bộ nhớ thì đúng thứ cần kiểm lại không tồn tại.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Quét tự động ngay trên bản đóng gói đang chạy, đi qua đúng máy chủ web và đúng chính sách bảo mật nội dung của bản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nêu rõ giới hạn thay vì giấu. Ba giới hạn này đều là chỗ mở rộng được, không phải chỗ thiết kế sai.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tách rời cho phép ứng dụng di động dùng lại nguyên giao diện lập trình ứng dụng hiện có, không phải viết lại tầng máy chủ.</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cảm ơn thầy cô đã lắng nghe. Em sẵn sàng trả lời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5C4C"/>
        </a:solidFill>
        <a:effectLst/>
      </p:bgPr>
    </p:bg>
    <p:spTree>
      <p:nvGrpSpPr>
        <p:cNvPr id="1" name=""/>
        <p:cNvGrpSpPr/>
        <p:nvPr/>
      </p:nvGrpSpPr>
      <p:grpSpPr/>
      <p:sp>
        <p:nvSpPr>
          <p:cNvPr id="2" name="TextBox 1"/>
          <p:cNvSpPr txBox="1"/>
          <p:nvPr/>
        </p:nvSpPr>
        <p:spPr>
          <a:xfrm>
            <a:off x="900000" y="1152000"/>
            <a:ext cx="10393200" cy="4320000"/>
          </a:xfrm>
          <a:prstGeom prst="rect">
            <a:avLst/>
          </a:prstGeom>
          <a:noFill/>
        </p:spPr>
        <p:txBody>
          <a:bodyPr wrap="square" anchor="ctr">
            <a:spAutoFit/>
          </a:bodyPr>
          <a:lstStyle/>
          <a:p/>
          <a:p>
            <a:pPr algn="ctr">
              <a:spcAft>
                <a:spcPts val="400"/>
              </a:spcAft>
            </a:pPr>
            <a:r>
              <a:rPr sz="2000" b="0" i="0">
                <a:solidFill>
                  <a:srgbClr val="C8DED6"/>
                </a:solidFill>
                <a:latin typeface="Times New Roman"/>
              </a:rPr>
              <a:t>TRƯỜNG ĐẠI HỌC TRÀ VINH</a:t>
            </a:r>
          </a:p>
          <a:p>
            <a:pPr algn="ctr">
              <a:spcAft>
                <a:spcPts val="2600"/>
              </a:spcAft>
            </a:pPr>
            <a:r>
              <a:rPr sz="2000" b="0" i="0">
                <a:solidFill>
                  <a:srgbClr val="C8DED6"/>
                </a:solidFill>
                <a:latin typeface="Times New Roman"/>
              </a:rPr>
              <a:t>KHOA KỸ THUẬT VÀ CÔNG NGHỆ</a:t>
            </a:r>
          </a:p>
          <a:p>
            <a:pPr algn="ctr">
              <a:spcAft>
                <a:spcPts val="1200"/>
              </a:spcAft>
            </a:pPr>
            <a:r>
              <a:rPr sz="2400" b="0" i="0">
                <a:solidFill>
                  <a:srgbClr val="C8DED6"/>
                </a:solidFill>
                <a:latin typeface="Times New Roman"/>
              </a:rPr>
              <a:t>ĐỒ ÁN THỰC TẬP CHUYÊN NGÀNH</a:t>
            </a:r>
          </a:p>
          <a:p>
            <a:pPr algn="ctr">
              <a:spcAft>
                <a:spcPts val="0"/>
              </a:spcAft>
            </a:pPr>
            <a:r>
              <a:rPr sz="4000" b="1" i="0">
                <a:solidFill>
                  <a:srgbClr val="FFFFFF"/>
                </a:solidFill>
                <a:latin typeface="Times New Roman"/>
              </a:rPr>
              <a:t>XÂY DỰNG WEBSITE GIỚI THIỆU</a:t>
            </a:r>
          </a:p>
          <a:p>
            <a:pPr algn="ctr">
              <a:spcAft>
                <a:spcPts val="3000"/>
              </a:spcAft>
            </a:pPr>
            <a:r>
              <a:rPr sz="4000" b="1" i="0">
                <a:solidFill>
                  <a:srgbClr val="FFFFFF"/>
                </a:solidFill>
                <a:latin typeface="Times New Roman"/>
              </a:rPr>
              <a:t>VÀ ĐẶT PHÒNG HOMESTAY TVH</a:t>
            </a:r>
          </a:p>
          <a:p>
            <a:pPr algn="ctr">
              <a:spcAft>
                <a:spcPts val="400"/>
              </a:spcAft>
            </a:pPr>
            <a:r>
              <a:rPr sz="2000" b="0" i="0">
                <a:solidFill>
                  <a:srgbClr val="C8DED6"/>
                </a:solidFill>
                <a:latin typeface="Times New Roman"/>
              </a:rPr>
              <a:t>Giảng viên hướng dẫn:  . . . . . . . . . . . . . . . . . . . .</a:t>
            </a:r>
          </a:p>
          <a:p>
            <a:pPr algn="ctr">
              <a:spcAft>
                <a:spcPts val="400"/>
              </a:spcAft>
            </a:pPr>
            <a:r>
              <a:rPr sz="2000" b="0" i="0">
                <a:solidFill>
                  <a:srgbClr val="C8DED6"/>
                </a:solidFill>
                <a:latin typeface="Times New Roman"/>
              </a:rPr>
              <a:t>Sinh viên thực hiện:  . . . . . . . . . . . . . . . . . . . .</a:t>
            </a:r>
          </a:p>
          <a:p>
            <a:pPr algn="ctr">
              <a:spcAft>
                <a:spcPts val="0"/>
              </a:spcAft>
            </a:pPr>
            <a:r>
              <a:rPr sz="2000" b="0" i="0">
                <a:solidFill>
                  <a:srgbClr val="C8DED6"/>
                </a:solidFill>
                <a:latin typeface="Times New Roman"/>
              </a:rPr>
              <a:t>Mã số sinh viên:  . . . . . . . . . . .      Lớp:  . . . . . . . . . .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Nội dung trình bày</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Bài toán và mục tiêu</a:t>
            </a:r>
          </a:p>
          <a:p>
            <a:pPr marL="324000" indent="-324000">
              <a:spcAft>
                <a:spcPts val="1600"/>
              </a:spcAft>
            </a:pPr>
            <a:r>
              <a:rPr sz="3200" b="0" i="0">
                <a:solidFill>
                  <a:srgbClr val="1C1917"/>
                </a:solidFill>
                <a:latin typeface="Times New Roman"/>
              </a:rPr>
              <a:t>▪  Vấn đề kỹ thuật then chốt</a:t>
            </a:r>
          </a:p>
          <a:p>
            <a:pPr marL="324000" indent="-324000">
              <a:spcAft>
                <a:spcPts val="1600"/>
              </a:spcAft>
            </a:pPr>
            <a:r>
              <a:rPr sz="3200" b="0" i="0">
                <a:solidFill>
                  <a:srgbClr val="1C1917"/>
                </a:solidFill>
                <a:latin typeface="Times New Roman"/>
              </a:rPr>
              <a:t>▪  Thiết kế và cài đặt</a:t>
            </a:r>
          </a:p>
          <a:p>
            <a:pPr marL="324000" indent="-324000">
              <a:spcAft>
                <a:spcPts val="1600"/>
              </a:spcAft>
            </a:pPr>
            <a:r>
              <a:rPr sz="3200" b="0" i="0">
                <a:solidFill>
                  <a:srgbClr val="1C1917"/>
                </a:solidFill>
                <a:latin typeface="Times New Roman"/>
              </a:rPr>
              <a:t>▪  Kết quả kiểm chứng</a:t>
            </a:r>
          </a:p>
          <a:p>
            <a:pPr marL="324000" indent="-324000">
              <a:spcAft>
                <a:spcPts val="1600"/>
              </a:spcAft>
            </a:pPr>
            <a:r>
              <a:rPr sz="3200" b="0" i="0">
                <a:solidFill>
                  <a:srgbClr val="1C1917"/>
                </a:solidFill>
                <a:latin typeface="Times New Roman"/>
              </a:rPr>
              <a:t>▪  Giới hạn và hướng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3600" b="1" i="0">
                <a:solidFill>
                  <a:srgbClr val="0F5C4C"/>
                </a:solidFill>
                <a:latin typeface="Times New Roman"/>
              </a:rPr>
              <a:t>Bài toán: homestay quản lý phòng bằng trí nhớ</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C1917"/>
                </a:solidFill>
                <a:latin typeface="Times New Roman"/>
              </a:rPr>
              <a:t>▪  Đặt phòng đến từ nhiều kênh tin nhắn khác nhau</a:t>
            </a:r>
          </a:p>
          <a:p>
            <a:pPr marL="324000" indent="-324000">
              <a:spcAft>
                <a:spcPts val="1600"/>
              </a:spcAft>
            </a:pPr>
            <a:r>
              <a:rPr sz="2800" b="0" i="0">
                <a:solidFill>
                  <a:srgbClr val="1C1917"/>
                </a:solidFill>
                <a:latin typeface="Times New Roman"/>
              </a:rPr>
              <a:t>▪  Không có nơi nào cho biết một ngày còn bao nhiêu phòng</a:t>
            </a:r>
          </a:p>
          <a:p>
            <a:pPr marL="324000" indent="-324000">
              <a:spcAft>
                <a:spcPts val="1600"/>
              </a:spcAft>
            </a:pPr>
            <a:r>
              <a:rPr sz="2800" b="0" i="0">
                <a:solidFill>
                  <a:srgbClr val="1C1917"/>
                </a:solidFill>
                <a:latin typeface="Times New Roman"/>
              </a:rPr>
              <a:t>▪  Sàn trung gian thu 15–20% mỗi đơn</a:t>
            </a:r>
          </a:p>
        </p:txBody>
      </p:sp>
      <p:pic>
        <p:nvPicPr>
          <p:cNvPr id="5" name="Picture 4" descr="hinh-1-2-quy-trinh-thu-cong.png"/>
          <p:cNvPicPr>
            <a:picLocks noChangeAspect="1"/>
          </p:cNvPicPr>
          <p:nvPr/>
        </p:nvPicPr>
        <p:blipFill>
          <a:blip r:embed="rId2"/>
          <a:stretch>
            <a:fillRect/>
          </a:stretch>
        </p:blipFill>
        <p:spPr>
          <a:xfrm>
            <a:off x="7750406" y="1584000"/>
            <a:ext cx="2211187" cy="4770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3600" b="1" i="0">
                <a:solidFill>
                  <a:srgbClr val="0F5C4C"/>
                </a:solidFill>
                <a:latin typeface="Times New Roman"/>
              </a:rPr>
              <a:t>Bài toán cốt lõi: không được bán trùng phòng</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Hai khách liên hệ gần như cùng lúc</a:t>
            </a:r>
          </a:p>
          <a:p>
            <a:pPr marL="324000" indent="-324000">
              <a:spcAft>
                <a:spcPts val="1600"/>
              </a:spcAft>
            </a:pPr>
            <a:r>
              <a:rPr sz="3200" b="0" i="0">
                <a:solidFill>
                  <a:srgbClr val="1C1917"/>
                </a:solidFill>
                <a:latin typeface="Times New Roman"/>
              </a:rPr>
              <a:t>▪  Chủ nhà trả lời còn phòng cho cả hai</a:t>
            </a:r>
          </a:p>
          <a:p>
            <a:pPr marL="324000" indent="-324000">
              <a:spcAft>
                <a:spcPts val="1600"/>
              </a:spcAft>
            </a:pPr>
            <a:r>
              <a:rPr sz="3200" b="0" i="0">
                <a:solidFill>
                  <a:srgbClr val="1C1917"/>
                </a:solidFill>
                <a:latin typeface="Times New Roman"/>
              </a:rPr>
              <a:t>▪  Sai sót chỉ lộ ra vào ngày nhận phòng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Quy ước nửa mở cho khoảng ngày</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C1917"/>
                </a:solidFill>
                <a:latin typeface="Times New Roman"/>
              </a:rPr>
              <a:t>▪  Trả phòng 10/03 và nhận phòng 10/03 KHÔNG chồng lấn</a:t>
            </a:r>
          </a:p>
          <a:p>
            <a:pPr marL="324000" indent="-324000">
              <a:spcAft>
                <a:spcPts val="1600"/>
              </a:spcAft>
            </a:pPr>
            <a:r>
              <a:rPr sz="2800" b="0" i="0">
                <a:solidFill>
                  <a:srgbClr val="1C1917"/>
                </a:solidFill>
                <a:latin typeface="Times New Roman"/>
              </a:rPr>
              <a:t>▪  Viết là [nhận, trả) — chứa ngày đầu, không chứa ngày cuối</a:t>
            </a:r>
          </a:p>
          <a:p>
            <a:pPr marL="324000" indent="-324000">
              <a:spcAft>
                <a:spcPts val="1600"/>
              </a:spcAft>
            </a:pPr>
            <a:r>
              <a:rPr sz="2800" b="0" i="0">
                <a:solidFill>
                  <a:srgbClr val="1C1917"/>
                </a:solidFill>
                <a:latin typeface="Times New Roman"/>
              </a:rPr>
              <a:t>▪  Sai quy ước này là mất một đêm bán được của mỗi phòng</a:t>
            </a:r>
          </a:p>
        </p:txBody>
      </p:sp>
      <p:pic>
        <p:nvPicPr>
          <p:cNvPr id="5" name="Picture 4" descr="hinh-1-1-khoang-nua-mo.png"/>
          <p:cNvPicPr>
            <a:picLocks noChangeAspect="1"/>
          </p:cNvPicPr>
          <p:nvPr/>
        </p:nvPicPr>
        <p:blipFill>
          <a:blip r:embed="rId2"/>
          <a:stretch>
            <a:fillRect/>
          </a:stretch>
        </p:blipFill>
        <p:spPr>
          <a:xfrm>
            <a:off x="6379436" y="1584000"/>
            <a:ext cx="4953126" cy="477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Mục tiêu và phạm vi</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Ba khối: trang khách, khu quản trị, giao diện lập trình ứng dụng</a:t>
            </a:r>
          </a:p>
          <a:p>
            <a:pPr marL="324000" indent="-324000">
              <a:spcAft>
                <a:spcPts val="1600"/>
              </a:spcAft>
            </a:pPr>
            <a:r>
              <a:rPr sz="3200" b="0" i="0">
                <a:solidFill>
                  <a:srgbClr val="1C1917"/>
                </a:solidFill>
                <a:latin typeface="Times New Roman"/>
              </a:rPr>
              <a:t>▪  Đặt cọc qua mã QR, webhook tự xác nhận</a:t>
            </a:r>
          </a:p>
          <a:p>
            <a:pPr marL="324000" indent="-324000">
              <a:spcAft>
                <a:spcPts val="1600"/>
              </a:spcAft>
            </a:pPr>
            <a:r>
              <a:rPr sz="3200" b="0" i="0">
                <a:solidFill>
                  <a:srgbClr val="1C1917"/>
                </a:solidFill>
                <a:latin typeface="Times New Roman"/>
              </a:rPr>
              <a:t>▪  Không có nhánh nào để tiền của khách biến mất im lặng</a:t>
            </a:r>
          </a:p>
          <a:p>
            <a:pPr marL="324000" indent="-324000">
              <a:spcAft>
                <a:spcPts val="1600"/>
              </a:spcAft>
            </a:pPr>
            <a:r>
              <a:rPr sz="3200" b="0" i="0">
                <a:solidFill>
                  <a:srgbClr val="1C1917"/>
                </a:solidFill>
                <a:latin typeface="Times New Roman"/>
              </a:rPr>
              <a:t>▪  Một lệnh là đủ để chạy toàn hệ thống kèm dữ liệu mẫu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Công nghệ sử dụng</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Máy chủ: Java 21, Spring Boot 3.5</a:t>
            </a:r>
          </a:p>
          <a:p>
            <a:pPr marL="324000" indent="-324000">
              <a:spcAft>
                <a:spcPts val="1600"/>
              </a:spcAft>
            </a:pPr>
            <a:r>
              <a:rPr sz="3200" b="0" i="0">
                <a:solidFill>
                  <a:srgbClr val="1C1917"/>
                </a:solidFill>
                <a:latin typeface="Times New Roman"/>
              </a:rPr>
              <a:t>▪  Giao diện: Angular 21, Tailwind CSS v4</a:t>
            </a:r>
          </a:p>
          <a:p>
            <a:pPr marL="324000" indent="-324000">
              <a:spcAft>
                <a:spcPts val="1600"/>
              </a:spcAft>
            </a:pPr>
            <a:r>
              <a:rPr sz="3200" b="0" i="0">
                <a:solidFill>
                  <a:srgbClr val="1C1917"/>
                </a:solidFill>
                <a:latin typeface="Times New Roman"/>
              </a:rPr>
              <a:t>▪  Cơ sở dữ liệu: PostgreSQL 16 — chọn vì một lý do rất cụ thể</a:t>
            </a:r>
          </a:p>
          <a:p>
            <a:pPr marL="324000" indent="-324000">
              <a:spcAft>
                <a:spcPts val="1600"/>
              </a:spcAft>
            </a:pPr>
            <a:r>
              <a:rPr sz="3200" b="0" i="0">
                <a:solidFill>
                  <a:srgbClr val="1C1917"/>
                </a:solidFill>
                <a:latin typeface="Times New Roman"/>
              </a:rPr>
              <a:t>▪  Đóng gói: Docker Compose, bốn dịch vụ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Kiến trúc tổng thể</a:t>
            </a:r>
          </a:p>
        </p:txBody>
      </p:sp>
      <p:pic>
        <p:nvPicPr>
          <p:cNvPr id="4" name="Picture 3" descr="hinh-2-1-kien-truc-tong-the.png"/>
          <p:cNvPicPr>
            <a:picLocks noChangeAspect="1"/>
          </p:cNvPicPr>
          <p:nvPr/>
        </p:nvPicPr>
        <p:blipFill>
          <a:blip r:embed="rId2"/>
          <a:stretch>
            <a:fillRect/>
          </a:stretch>
        </p:blipFill>
        <p:spPr>
          <a:xfrm>
            <a:off x="1080000" y="2858618"/>
            <a:ext cx="10033200" cy="222076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F5C4C"/>
                </a:solidFill>
                <a:latin typeface="Times New Roman"/>
              </a:rPr>
              <a:t>Vì sao kiểm tra ở tầng ứng dụng KHÔNG đủ</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C1917"/>
                </a:solidFill>
                <a:latin typeface="Times New Roman"/>
              </a:rPr>
              <a:t>▪  Luồng 1 đọc: còn phòng → Luồng 2 đọc: còn phòng</a:t>
            </a:r>
          </a:p>
          <a:p>
            <a:pPr marL="324000" indent="-324000">
              <a:spcAft>
                <a:spcPts val="1600"/>
              </a:spcAft>
            </a:pPr>
            <a:r>
              <a:rPr sz="2800" b="0" i="0">
                <a:solidFill>
                  <a:srgbClr val="1C1917"/>
                </a:solidFill>
                <a:latin typeface="Times New Roman"/>
              </a:rPr>
              <a:t>▪  Cả hai cùng ghi → bán trùng</a:t>
            </a:r>
          </a:p>
          <a:p>
            <a:pPr marL="324000" indent="-324000">
              <a:spcAft>
                <a:spcPts val="1600"/>
              </a:spcAft>
            </a:pPr>
            <a:r>
              <a:rPr sz="2800" b="0" i="0">
                <a:solidFill>
                  <a:srgbClr val="1C1917"/>
                </a:solidFill>
                <a:latin typeface="Times New Roman"/>
              </a:rPr>
              <a:t>▪  Mức cô lập Read Committed không ngăn được</a:t>
            </a:r>
          </a:p>
          <a:p>
            <a:pPr marL="324000" indent="-324000">
              <a:spcAft>
                <a:spcPts val="1600"/>
              </a:spcAft>
            </a:pPr>
            <a:r>
              <a:rPr sz="2800" b="0" i="0">
                <a:solidFill>
                  <a:srgbClr val="1C1917"/>
                </a:solidFill>
                <a:latin typeface="Times New Roman"/>
              </a:rPr>
              <a:t>▪  Tài liệu PostgreSQL khuyên dùng ràng buộc toàn vẹn</a:t>
            </a:r>
          </a:p>
        </p:txBody>
      </p:sp>
      <p:pic>
        <p:nvPicPr>
          <p:cNvPr id="5" name="Picture 4" descr="hinh-2-2-tranh-chap-dat-phong.png"/>
          <p:cNvPicPr>
            <a:picLocks noChangeAspect="1"/>
          </p:cNvPicPr>
          <p:nvPr/>
        </p:nvPicPr>
        <p:blipFill>
          <a:blip r:embed="rId2"/>
          <a:stretch>
            <a:fillRect/>
          </a:stretch>
        </p:blipFill>
        <p:spPr>
          <a:xfrm>
            <a:off x="7094489" y="1584000"/>
            <a:ext cx="3523020" cy="477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F5C4C"/>
                </a:solidFill>
                <a:latin typeface="Times New Roman"/>
              </a:rPr>
              <a:t>Giải pháp: để cơ sở dữ liệu quyết định</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EXCLUDE USING gist (room_id WITH =, stay WITH &amp;&amp;)</a:t>
            </a:r>
          </a:p>
          <a:p>
            <a:pPr marL="324000" indent="-324000">
              <a:spcAft>
                <a:spcPts val="1600"/>
              </a:spcAft>
            </a:pPr>
            <a:r>
              <a:rPr sz="3200" b="0" i="0">
                <a:solidFill>
                  <a:srgbClr val="1C1917"/>
                </a:solidFill>
                <a:latin typeface="Times New Roman"/>
              </a:rPr>
              <a:t>▪  Cột stay sinh tự động: daterange(nhận, trả, '[)')</a:t>
            </a:r>
          </a:p>
          <a:p>
            <a:pPr marL="324000" indent="-324000">
              <a:spcAft>
                <a:spcPts val="1600"/>
              </a:spcAft>
            </a:pPr>
            <a:r>
              <a:rPr sz="3200" b="0" i="0">
                <a:solidFill>
                  <a:srgbClr val="1C1917"/>
                </a:solidFill>
                <a:latin typeface="Times New Roman"/>
              </a:rPr>
              <a:t>▪  Luồng thứ hai nhận lỗi 23P01 và bị bác — ngay trong giao dịch</a:t>
            </a:r>
          </a:p>
          <a:p>
            <a:pPr marL="324000" indent="-324000">
              <a:spcAft>
                <a:spcPts val="1600"/>
              </a:spcAft>
            </a:pPr>
            <a:r>
              <a:rPr sz="3200" b="0" i="0">
                <a:solidFill>
                  <a:srgbClr val="1C1917"/>
                </a:solidFill>
                <a:latin typeface="Times New Roman"/>
              </a:rPr>
              <a:t>▪  MySQL không có daterange lẫn ràng buộc loại trừ</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F5C4C"/>
                </a:solidFill>
                <a:latin typeface="Times New Roman"/>
              </a:rPr>
              <a:t>Cơ sở dữ liệu: 21 bảng, 8 migration</a:t>
            </a:r>
          </a:p>
        </p:txBody>
      </p:sp>
      <p:pic>
        <p:nvPicPr>
          <p:cNvPr id="4" name="Picture 3" descr="hinh-3-3-erd-dat-phong.png"/>
          <p:cNvPicPr>
            <a:picLocks noChangeAspect="1"/>
          </p:cNvPicPr>
          <p:nvPr/>
        </p:nvPicPr>
        <p:blipFill>
          <a:blip r:embed="rId2"/>
          <a:stretch>
            <a:fillRect/>
          </a:stretch>
        </p:blipFill>
        <p:spPr>
          <a:xfrm>
            <a:off x="3175539" y="1584000"/>
            <a:ext cx="5842121" cy="477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Máy trạng thái đơn đặt phòng</a:t>
            </a:r>
          </a:p>
        </p:txBody>
      </p:sp>
      <p:pic>
        <p:nvPicPr>
          <p:cNvPr id="4" name="Picture 3" descr="hinh-3-5-trang-thai-don.png"/>
          <p:cNvPicPr>
            <a:picLocks noChangeAspect="1"/>
          </p:cNvPicPr>
          <p:nvPr/>
        </p:nvPicPr>
        <p:blipFill>
          <a:blip r:embed="rId2"/>
          <a:stretch>
            <a:fillRect/>
          </a:stretch>
        </p:blipFill>
        <p:spPr>
          <a:xfrm>
            <a:off x="3337418" y="1584000"/>
            <a:ext cx="5518362" cy="4770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Thanh toán: mã QR và webhook</a:t>
            </a:r>
          </a:p>
        </p:txBody>
      </p:sp>
      <p:pic>
        <p:nvPicPr>
          <p:cNvPr id="4" name="Picture 3" descr="hinh-3-7-tuan-tu-thanh-toan.png"/>
          <p:cNvPicPr>
            <a:picLocks noChangeAspect="1"/>
          </p:cNvPicPr>
          <p:nvPr/>
        </p:nvPicPr>
        <p:blipFill>
          <a:blip r:embed="rId2"/>
          <a:stretch>
            <a:fillRect/>
          </a:stretch>
        </p:blipFill>
        <p:spPr>
          <a:xfrm>
            <a:off x="2160027" y="1584000"/>
            <a:ext cx="7873145" cy="4770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F5C4C"/>
                </a:solidFill>
                <a:latin typeface="Times New Roman"/>
              </a:rPr>
              <a:t>Giao diện khách: ba bước đặt phòng</a:t>
            </a:r>
          </a:p>
        </p:txBody>
      </p:sp>
      <p:pic>
        <p:nvPicPr>
          <p:cNvPr id="4" name="Picture 3" descr="hinh-3-14-ba-buoc-dat-phong.png"/>
          <p:cNvPicPr>
            <a:picLocks noChangeAspect="1"/>
          </p:cNvPicPr>
          <p:nvPr/>
        </p:nvPicPr>
        <p:blipFill>
          <a:blip r:embed="rId2"/>
          <a:stretch>
            <a:fillRect/>
          </a:stretch>
        </p:blipFill>
        <p:spPr>
          <a:xfrm>
            <a:off x="1080000" y="2380410"/>
            <a:ext cx="10033200" cy="317717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Khu quản trị: 11 màn hình</a:t>
            </a:r>
          </a:p>
        </p:txBody>
      </p:sp>
      <p:pic>
        <p:nvPicPr>
          <p:cNvPr id="4" name="Picture 3" descr="hinh-3-16-dashboard.png"/>
          <p:cNvPicPr>
            <a:picLocks noChangeAspect="1"/>
          </p:cNvPicPr>
          <p:nvPr/>
        </p:nvPicPr>
        <p:blipFill>
          <a:blip r:embed="rId2"/>
          <a:stretch>
            <a:fillRect/>
          </a:stretch>
        </p:blipFill>
        <p:spPr>
          <a:xfrm>
            <a:off x="3622248" y="1584000"/>
            <a:ext cx="4948703" cy="4770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Kết quả kiểm thử</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129 ca kiểm thử, tất cả đạt</a:t>
            </a:r>
          </a:p>
          <a:p>
            <a:pPr marL="324000" indent="-324000">
              <a:spcAft>
                <a:spcPts val="1600"/>
              </a:spcAft>
            </a:pPr>
            <a:r>
              <a:rPr sz="3200" b="0" i="0">
                <a:solidFill>
                  <a:srgbClr val="1C1917"/>
                </a:solidFill>
                <a:latin typeface="Times New Roman"/>
              </a:rPr>
              <a:t>▪  Kiểm thử đa luồng với PostgreSQL thật, không giả lập</a:t>
            </a:r>
          </a:p>
          <a:p>
            <a:pPr marL="324000" indent="-324000">
              <a:spcAft>
                <a:spcPts val="1600"/>
              </a:spcAft>
            </a:pPr>
            <a:r>
              <a:rPr sz="3200" b="0" i="0">
                <a:solidFill>
                  <a:srgbClr val="1C1917"/>
                </a:solidFill>
                <a:latin typeface="Times New Roman"/>
              </a:rPr>
              <a:t>▪  11 lỗi thực tế đã tìm ra và khắc phục</a:t>
            </a:r>
          </a:p>
          <a:p>
            <a:pPr marL="324000" indent="-324000">
              <a:spcAft>
                <a:spcPts val="1600"/>
              </a:spcAft>
            </a:pPr>
            <a:r>
              <a:rPr sz="3200" b="0" i="0">
                <a:solidFill>
                  <a:srgbClr val="1C1917"/>
                </a:solidFill>
                <a:latin typeface="Times New Roman"/>
              </a:rPr>
              <a:t>▪  Ma trận phân quyền: 30 tiền tố đường dẫn đều được khai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Khả năng tiếp cận và triển khai</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C1917"/>
                </a:solidFill>
                <a:latin typeface="Times New Roman"/>
              </a:rPr>
              <a:t>▪  Quét 17 màn hình: 0 vi phạm WCAG 2.1 mức A và AA</a:t>
            </a:r>
          </a:p>
          <a:p>
            <a:pPr marL="324000" indent="-324000">
              <a:spcAft>
                <a:spcPts val="1600"/>
              </a:spcAft>
            </a:pPr>
            <a:r>
              <a:rPr sz="2800" b="0" i="0">
                <a:solidFill>
                  <a:srgbClr val="1C1917"/>
                </a:solidFill>
                <a:latin typeface="Times New Roman"/>
              </a:rPr>
              <a:t>▪  Kiểm ở ba độ rộng màn hình, vùng chạm tối thiểu 44×44 điểm ảnh</a:t>
            </a:r>
          </a:p>
          <a:p>
            <a:pPr marL="324000" indent="-324000">
              <a:spcAft>
                <a:spcPts val="1600"/>
              </a:spcAft>
            </a:pPr>
            <a:r>
              <a:rPr sz="2800" b="0" i="0">
                <a:solidFill>
                  <a:srgbClr val="1C1917"/>
                </a:solidFill>
                <a:latin typeface="Times New Roman"/>
              </a:rPr>
              <a:t>▪  docker compose up -d: bốn dịch vụ đều healthy</a:t>
            </a:r>
          </a:p>
        </p:txBody>
      </p:sp>
      <p:pic>
        <p:nvPicPr>
          <p:cNvPr id="5" name="Picture 4" descr="hinh-3-20-docker-compose-ps.png"/>
          <p:cNvPicPr>
            <a:picLocks noChangeAspect="1"/>
          </p:cNvPicPr>
          <p:nvPr/>
        </p:nvPicPr>
        <p:blipFill>
          <a:blip r:embed="rId2"/>
          <a:stretch>
            <a:fillRect/>
          </a:stretch>
        </p:blipFill>
        <p:spPr>
          <a:xfrm>
            <a:off x="6120000" y="3530058"/>
            <a:ext cx="5472000" cy="87788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Giới hạn đã biết</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Chưa có bảng giá theo từng đêm — giá hiện là giá cố định theo loại phòng</a:t>
            </a:r>
          </a:p>
          <a:p>
            <a:pPr marL="324000" indent="-324000">
              <a:spcAft>
                <a:spcPts val="1600"/>
              </a:spcAft>
            </a:pPr>
            <a:r>
              <a:rPr sz="3200" b="0" i="0">
                <a:solidFill>
                  <a:srgbClr val="1C1917"/>
                </a:solidFill>
                <a:latin typeface="Times New Roman"/>
              </a:rPr>
              <a:t>▪  Tầng giao diện chưa có bộ kiểm thử tự động thường trực</a:t>
            </a:r>
          </a:p>
          <a:p>
            <a:pPr marL="324000" indent="-324000">
              <a:spcAft>
                <a:spcPts val="1600"/>
              </a:spcAft>
            </a:pPr>
            <a:r>
              <a:rPr sz="3200" b="0" i="0">
                <a:solidFill>
                  <a:srgbClr val="1C1917"/>
                </a:solidFill>
                <a:latin typeface="Times New Roman"/>
              </a:rPr>
              <a:t>▪  Hoàn tiền chưa tự động, chỉ ghi nhận để người xử lý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F5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F5C4C"/>
                </a:solidFill>
                <a:latin typeface="Times New Roman"/>
              </a:rPr>
              <a:t>Hướng phát triển</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C1917"/>
                </a:solidFill>
                <a:latin typeface="Times New Roman"/>
              </a:rPr>
              <a:t>▪  Bảng giá theo mùa và theo ngày trong tuần</a:t>
            </a:r>
          </a:p>
          <a:p>
            <a:pPr marL="324000" indent="-324000">
              <a:spcAft>
                <a:spcPts val="1600"/>
              </a:spcAft>
            </a:pPr>
            <a:r>
              <a:rPr sz="3200" b="0" i="0">
                <a:solidFill>
                  <a:srgbClr val="1C1917"/>
                </a:solidFill>
                <a:latin typeface="Times New Roman"/>
              </a:rPr>
              <a:t>▪  Ứng dụng di động — dùng lại nguyên giao diện lập trình ứng dụng</a:t>
            </a:r>
          </a:p>
          <a:p>
            <a:pPr marL="324000" indent="-324000">
              <a:spcAft>
                <a:spcPts val="1600"/>
              </a:spcAft>
            </a:pPr>
            <a:r>
              <a:rPr sz="3200" b="0" i="0">
                <a:solidFill>
                  <a:srgbClr val="1C1917"/>
                </a:solidFill>
                <a:latin typeface="Times New Roman"/>
              </a:rPr>
              <a:t>▪  Đồng bộ lịch hai chiều với sàn trung gian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5C4C"/>
        </a:solidFill>
        <a:effectLst/>
      </p:bgPr>
    </p:bg>
    <p:spTree>
      <p:nvGrpSpPr>
        <p:cNvPr id="1" name=""/>
        <p:cNvGrpSpPr/>
        <p:nvPr/>
      </p:nvGrpSpPr>
      <p:grpSpPr/>
      <p:sp>
        <p:nvSpPr>
          <p:cNvPr id="2" name="TextBox 1"/>
          <p:cNvSpPr txBox="1"/>
          <p:nvPr/>
        </p:nvSpPr>
        <p:spPr>
          <a:xfrm>
            <a:off x="900000" y="2160000"/>
            <a:ext cx="10393200" cy="2520000"/>
          </a:xfrm>
          <a:prstGeom prst="rect">
            <a:avLst/>
          </a:prstGeom>
          <a:noFill/>
        </p:spPr>
        <p:txBody>
          <a:bodyPr wrap="square" anchor="ctr">
            <a:spAutoFit/>
          </a:bodyPr>
          <a:lstStyle/>
          <a:p>
            <a:pPr algn="ctr"/>
            <a:r>
              <a:rPr sz="5400" b="1" i="0">
                <a:solidFill>
                  <a:srgbClr val="FFFFFF"/>
                </a:solidFill>
                <a:latin typeface="Times New Roman"/>
              </a:rPr>
              <a:t>Cảm ơn thầy cô đã lắng nghe</a:t>
            </a:r>
          </a:p>
          <a:p>
            <a:pPr algn="ctr">
              <a:spcBef>
                <a:spcPts val="2400"/>
              </a:spcBef>
            </a:pPr>
            <a:r>
              <a:rPr sz="2600" b="0" i="0">
                <a:solidFill>
                  <a:srgbClr val="C8DED6"/>
                </a:solidFill>
                <a:latin typeface="Times New Roman"/>
              </a:rPr>
              <a:t>Em xin sẵn sàng trả lời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